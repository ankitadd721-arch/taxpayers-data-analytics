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Taxpayers Data Analytics</a:t>
            </a:r>
          </a:p>
          <a:p>
            <a:pPr>
              <a:spcBef>
                <a:spcPts val="1200"/>
              </a:spcBef>
              <a:defRPr sz="2000">
                <a:solidFill>
                  <a:srgbClr val="38BDF8"/>
                </a:solidFill>
              </a:defRPr>
            </a:pPr>
            <a:r>
              <a:t>Uncovering Revenue Trends &amp; Taxpayer Behavior using SQL &amp; Power BI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57200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rPr lang="en-US" dirty="0"/>
              <a:t>Presented by</a:t>
            </a:r>
            <a:r>
              <a:rPr dirty="0"/>
              <a:t>:</a:t>
            </a:r>
            <a:r>
              <a:rPr lang="en-US" dirty="0"/>
              <a:t> Ankita Shirish Manchalwar</a:t>
            </a:r>
            <a:endParaRPr dirty="0"/>
          </a:p>
          <a:p>
            <a:pPr algn="ctr">
              <a:spcBef>
                <a:spcPts val="600"/>
              </a:spcBef>
              <a:defRPr sz="1400">
                <a:solidFill>
                  <a:srgbClr val="94A3B8"/>
                </a:solidFill>
              </a:defRPr>
            </a:pPr>
            <a:r>
              <a:rPr lang="en-US" b="1" dirty="0"/>
              <a:t>Tools Used:</a:t>
            </a:r>
            <a:r>
              <a:rPr lang="en-US" dirty="0"/>
              <a:t> MySQL | Power BI | Data Modeling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PROJECT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Problem Statement &amp; Business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rPr dirty="0"/>
              <a:t>The Business Problem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rPr dirty="0"/>
              <a:t>•</a:t>
            </a:r>
            <a:r>
              <a:rPr lang="en-US" dirty="0"/>
              <a:t>Tax departments handle millions of filings each year, making it difficult to see overall revenue trends hidden in raw data.</a:t>
            </a:r>
            <a:endParaRPr dirty="0"/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rPr dirty="0"/>
              <a:t>•</a:t>
            </a:r>
            <a:r>
              <a:rPr lang="en-US" dirty="0"/>
              <a:t> Hard to track deduction impact on revenue without central reporting.</a:t>
            </a:r>
            <a:endParaRPr dirty="0"/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rPr dirty="0"/>
              <a:t>•</a:t>
            </a:r>
            <a:r>
              <a:rPr lang="en-US" dirty="0"/>
              <a:t>Decision-makers need clear data on taxpayer habits, age groups, and top-earning regions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rPr dirty="0"/>
              <a:t>Core Objectives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rPr dirty="0"/>
              <a:t>• Segment Taxpayers by Income </a:t>
            </a:r>
            <a:r>
              <a:rPr lang="en-US" dirty="0"/>
              <a:t>Groups</a:t>
            </a:r>
            <a:r>
              <a:rPr dirty="0"/>
              <a:t>: Analyze</a:t>
            </a:r>
            <a:r>
              <a:rPr lang="en-US" dirty="0"/>
              <a:t> the number of filers with the actual tax collected from each income group.</a:t>
            </a:r>
            <a:endParaRPr dirty="0"/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rPr dirty="0"/>
              <a:t>• Evaluate Regional Contributions: Identify high-performing states and revenue clusters across India.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rPr dirty="0"/>
              <a:t>• Old vs. New Tax Regimes: Understand adoption behavior and its direct effect on total deductions claimed.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rPr dirty="0"/>
              <a:t>• Build an Executive Dashboard: Deliver an interactive Power BI </a:t>
            </a:r>
            <a:r>
              <a:rPr lang="en-US" dirty="0"/>
              <a:t>dashboard</a:t>
            </a:r>
            <a:r>
              <a:rPr dirty="0"/>
              <a:t> for leadership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ARCHITECTURE &amp;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rPr dirty="0"/>
              <a:t>Tools &amp; Analytical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rPr dirty="0"/>
              <a:t>1. Data Sourcing &amp; Schema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rPr dirty="0"/>
              <a:t>• Dataset: 1,000 synthetic records with 12 structured attributes.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rPr dirty="0"/>
              <a:t>• Attributes: Taxpayer</a:t>
            </a:r>
            <a:r>
              <a:rPr lang="en-US" dirty="0"/>
              <a:t> </a:t>
            </a:r>
            <a:r>
              <a:rPr dirty="0"/>
              <a:t>ID, Gender, State, Age</a:t>
            </a:r>
            <a:r>
              <a:rPr lang="en-US" dirty="0"/>
              <a:t> </a:t>
            </a:r>
            <a:r>
              <a:rPr dirty="0"/>
              <a:t>Group, Filing</a:t>
            </a:r>
            <a:r>
              <a:rPr lang="en-US" dirty="0"/>
              <a:t> </a:t>
            </a:r>
            <a:r>
              <a:rPr dirty="0"/>
              <a:t>Type, Slabs, Tax</a:t>
            </a:r>
            <a:r>
              <a:rPr lang="en-US" dirty="0"/>
              <a:t> </a:t>
            </a:r>
            <a:r>
              <a:rPr dirty="0"/>
              <a:t>Paid.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rPr dirty="0"/>
              <a:t>• </a:t>
            </a:r>
            <a:r>
              <a:rPr lang="en-US" dirty="0"/>
              <a:t>Schema</a:t>
            </a:r>
            <a:r>
              <a:rPr dirty="0"/>
              <a:t>: Configured in MySQL Workbench with </a:t>
            </a:r>
            <a:r>
              <a:rPr lang="en-US" dirty="0"/>
              <a:t>proper</a:t>
            </a:r>
            <a:r>
              <a:rPr dirty="0"/>
              <a:t> data types.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rPr dirty="0"/>
              <a:t>2. SQL Analytical Layer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rPr dirty="0"/>
              <a:t>• Data Validation: Verified 1,000 complete rows without nulls.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rPr dirty="0"/>
              <a:t>• Conditional Logic: Utilized  WHEN </a:t>
            </a:r>
            <a:r>
              <a:rPr lang="en-US" dirty="0"/>
              <a:t>clause</a:t>
            </a:r>
            <a:r>
              <a:rPr dirty="0"/>
              <a:t> for income bracket categorization.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rPr dirty="0"/>
              <a:t>• Aggregations: GROUP BY to analyze state and demographic trends.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rPr dirty="0"/>
              <a:t>3. Power BI Dashboard Layer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rPr dirty="0"/>
              <a:t>•</a:t>
            </a:r>
            <a:r>
              <a:rPr lang="en-US" dirty="0"/>
              <a:t> Importing</a:t>
            </a:r>
            <a:r>
              <a:rPr dirty="0"/>
              <a:t> Data : Imported verified dataset into Power BI Desktop.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rPr dirty="0"/>
              <a:t>• DAX Measures: Built custom measures for Total Revenue, Total Filers</a:t>
            </a:r>
            <a:r>
              <a:rPr lang="en-US" dirty="0"/>
              <a:t>, Total Deductions</a:t>
            </a:r>
            <a:r>
              <a:rPr dirty="0"/>
              <a:t> and Avg Tax</a:t>
            </a:r>
            <a:r>
              <a:rPr lang="en-US" dirty="0"/>
              <a:t> paid</a:t>
            </a:r>
            <a:r>
              <a:rPr dirty="0"/>
              <a:t>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rPr dirty="0"/>
              <a:t>• </a:t>
            </a:r>
            <a:r>
              <a:rPr lang="en-US" dirty="0"/>
              <a:t>User </a:t>
            </a:r>
            <a:r>
              <a:rPr dirty="0"/>
              <a:t>Interactiv</a:t>
            </a:r>
            <a:r>
              <a:rPr lang="en-US" dirty="0"/>
              <a:t>ity</a:t>
            </a:r>
            <a:r>
              <a:rPr dirty="0"/>
              <a:t>: Configured Slicers (Year, Gender) and cross-filtering visuals.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DATABASE QUERYING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Key SQL Queries &amp;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Income Slab Segmentation (CASE WHEN)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Business Question: Which income group contributes the most tax revenue?</a:t>
            </a:r>
          </a:p>
          <a:p>
            <a:pPr>
              <a:spcBef>
                <a:spcPts val="1000"/>
              </a:spcBef>
              <a:defRPr sz="1050">
                <a:solidFill>
                  <a:srgbClr val="38BDF8"/>
                </a:solidFill>
                <a:latin typeface="Consolas"/>
              </a:defRPr>
            </a:pPr>
            <a:r>
              <a:t>SELECT </a:t>
            </a:r>
            <a:br/>
            <a:r>
              <a:t>    CASE </a:t>
            </a:r>
            <a:br/>
            <a:r>
              <a:t>        WHEN Gross_Income &lt; 500000 </a:t>
            </a:r>
            <a:br/>
            <a:r>
              <a:t>            THEN 'Low Income (&lt; 5L)'</a:t>
            </a:r>
            <a:br/>
            <a:r>
              <a:t>        WHEN Gross_Income BETWEEN 500000 </a:t>
            </a:r>
            <a:br/>
            <a:r>
              <a:t>            AND 1500000 THEN 'Middle Income (5L - 15L)'</a:t>
            </a:r>
            <a:br/>
            <a:r>
              <a:t>        ELSE 'High Income (&gt; 15L)'</a:t>
            </a:r>
            <a:br/>
            <a:r>
              <a:t>    END AS Income_Slab,</a:t>
            </a:r>
            <a:br/>
            <a:r>
              <a:t>    COUNT(Taxpayer_ID) AS Total_Filers,</a:t>
            </a:r>
            <a:br/>
            <a:r>
              <a:t>    SUM(Tax_Paid) AS Total_Revenue,</a:t>
            </a:r>
            <a:br/>
            <a:r>
              <a:t>    ROUND(AVG(Tax_Paid), 2) AS Avg_Tax_Paid</a:t>
            </a:r>
            <a:br/>
            <a:r>
              <a:t>FROM taxpayers</a:t>
            </a:r>
            <a:br/>
            <a:r>
              <a:t>GROUP BY Income_Slab</a:t>
            </a:r>
            <a:br/>
            <a:r>
              <a:t>ORDER BY Total_Revenue DESC;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Regime Comparison &amp; Top States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Business Question: Compare Old vs. New Regimes &amp; identify top tax states.</a:t>
            </a:r>
          </a:p>
          <a:p>
            <a:pPr>
              <a:spcBef>
                <a:spcPts val="1000"/>
              </a:spcBef>
              <a:defRPr sz="1000">
                <a:solidFill>
                  <a:srgbClr val="38BDF8"/>
                </a:solidFill>
                <a:latin typeface="Consolas"/>
              </a:defRPr>
            </a:pPr>
            <a:r>
              <a:t>-- Query 4: Old vs New Regime Analysis</a:t>
            </a:r>
            <a:br/>
            <a:r>
              <a:t>SELECT </a:t>
            </a:r>
            <a:br/>
            <a:r>
              <a:t>    Tax_Regime,</a:t>
            </a:r>
            <a:br/>
            <a:r>
              <a:t>    COUNT(Taxpayer_ID) AS Total_Filers,</a:t>
            </a:r>
            <a:br/>
            <a:r>
              <a:t>    SUM(Total_Deductions) AS Total_Deductions_Claimed,</a:t>
            </a:r>
            <a:br/>
            <a:r>
              <a:t>    SUM(Tax_Paid) AS Total_Tax_Collected</a:t>
            </a:r>
            <a:br/>
            <a:r>
              <a:t>FROM taxpayers</a:t>
            </a:r>
            <a:br/>
            <a:r>
              <a:t>GROUP BY Tax_Regime;</a:t>
            </a:r>
            <a:br/>
            <a:br/>
            <a:r>
              <a:t>-- Query 3: Top 5 States by Tax Collection</a:t>
            </a:r>
            <a:br/>
            <a:r>
              <a:t>SELECT </a:t>
            </a:r>
            <a:br/>
            <a:r>
              <a:t>    State, </a:t>
            </a:r>
            <a:br/>
            <a:r>
              <a:t>    COUNT(Taxpayer_ID) AS Total_Filers,</a:t>
            </a:r>
            <a:br/>
            <a:r>
              <a:t>    SUM(Tax_Paid) AS Total_Tax_Revenue</a:t>
            </a:r>
            <a:br/>
            <a:r>
              <a:t>FROM taxpayers</a:t>
            </a:r>
            <a:br/>
            <a:r>
              <a:t>GROUP BY State</a:t>
            </a:r>
            <a:br/>
            <a:r>
              <a:t>ORDER BY Total_Tax_Revenue DESC</a:t>
            </a:r>
            <a:br/>
            <a:r>
              <a:t>LIMIT 5;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DATA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Executive Power BI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6032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TOTAL TAX REVENUE</a:t>
            </a:r>
          </a:p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₹ 21.83 Cr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554480"/>
            <a:ext cx="256032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TOTAL FILERS</a:t>
            </a:r>
          </a:p>
          <a:p>
            <a:pPr algn="ctr">
              <a:defRPr sz="1600" b="1">
                <a:solidFill>
                  <a:srgbClr val="38BDF8"/>
                </a:solidFill>
              </a:defRPr>
            </a:pPr>
            <a:r>
              <a:t>1,000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256032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AVG TAX PAID</a:t>
            </a:r>
          </a:p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₹ 218,302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554480"/>
            <a:ext cx="256032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TOTAL DEDUCTIONS</a:t>
            </a:r>
          </a:p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₹ 6.65 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1069848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rPr dirty="0"/>
              <a:t>[Power BI Dashboard Screenshot]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20B24F-C6FD-A7A2-9B71-49A02946EC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1" t="19600" r="656" b="2134"/>
          <a:stretch>
            <a:fillRect/>
          </a:stretch>
        </p:blipFill>
        <p:spPr>
          <a:xfrm>
            <a:off x="1024128" y="2715768"/>
            <a:ext cx="10040112" cy="31272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ANALYTICAL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Key Business Insights &amp;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Geographic Concentration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States like Maharashtra (₹3.31 Cr), Telangana (₹3.28 Cr), and Uttar Pradesh (₹2.79 Cr) represent the top revenue contributors, driven by major urban and industrial centers.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Tax Regime Adoption &amp; Deductions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Filers opting for the Old Regime account for 100% of deduction claims (~₹6.65 Cr). The New Regime attracts filers prioritizing lower base tax rates without claiming Section 80C/80D benefits.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rPr dirty="0"/>
              <a:t>Income Brackets &amp; Revenue Impact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rPr dirty="0"/>
              <a:t>High-income earners (&gt; ₹15L) contribute</a:t>
            </a:r>
            <a:r>
              <a:rPr lang="en-US" dirty="0"/>
              <a:t> the largest share of </a:t>
            </a:r>
            <a:r>
              <a:rPr dirty="0"/>
              <a:t> total tax revenue despite representing a smaller percentage of overall filing volume.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8620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rPr dirty="0"/>
              <a:t>Demographic Filing Trends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rPr dirty="0"/>
              <a:t>Working professionals in the 31-45 and 46-60 age </a:t>
            </a:r>
            <a:r>
              <a:rPr lang="en-US" dirty="0"/>
              <a:t>group</a:t>
            </a:r>
            <a:r>
              <a:rPr dirty="0"/>
              <a:t>s</a:t>
            </a:r>
            <a:r>
              <a:rPr lang="en-US" dirty="0"/>
              <a:t> </a:t>
            </a:r>
            <a:r>
              <a:rPr lang="en-IN" dirty="0"/>
              <a:t>form </a:t>
            </a:r>
            <a:r>
              <a:rPr dirty="0"/>
              <a:t>the core tax foundation across both salaried and business categories.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NEXT ITERATIONS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Future Scope &amp; Project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rPr dirty="0"/>
              <a:t>Automated </a:t>
            </a:r>
            <a:r>
              <a:rPr lang="en-US" dirty="0"/>
              <a:t>Data Workflow in</a:t>
            </a:r>
            <a:r>
              <a:rPr dirty="0"/>
              <a:t> Python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rPr dirty="0"/>
              <a:t>Build end-to-end automated scripts using Pandas &amp; NumPy to clean, validate, and transform large raw CSV filings before </a:t>
            </a:r>
            <a:r>
              <a:rPr lang="en-US" dirty="0"/>
              <a:t>importing the </a:t>
            </a:r>
            <a:r>
              <a:rPr dirty="0"/>
              <a:t>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rPr dirty="0"/>
              <a:t>Exploratory Data Analysis (EDA)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rPr dirty="0"/>
              <a:t>Utilize</a:t>
            </a:r>
            <a:r>
              <a:rPr lang="en-US" dirty="0"/>
              <a:t> Python libraries (Matplotlib &amp; Seaborn) to uncover data trends, outliers, and relationships between income and deductions. 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Automated Executive Reporting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Develop scheduled Python scripts to auto-generate and export periodic tax summary reports in Excel or PDF formats.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8620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rPr dirty="0"/>
              <a:t>Interactive What-If Simulation in Power BI</a:t>
            </a:r>
            <a:endParaRPr lang="en-IN" dirty="0"/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rPr lang="en-US" dirty="0"/>
              <a:t>Introduce Power BI What-If parameter sliders to simulate the revenue impact of proposed tax rate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SUMMARY &amp;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Business Recommendations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rPr dirty="0"/>
              <a:t>Strategic Recommendations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rPr dirty="0"/>
              <a:t>• Targeted Taxpayer Education: Conduct filing literacy programs in developing regions and younger demographics (18-30) to expand the tax base.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rPr dirty="0"/>
              <a:t>• Regime Transition Monitoring: Continue tracking shifts toward the New Regime to ensure revenue stability while evaluating taxpayer deduction preferences.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rPr dirty="0"/>
              <a:t>• Resource Optimization: Focus </a:t>
            </a:r>
            <a:r>
              <a:rPr lang="en-US" dirty="0"/>
              <a:t>tax</a:t>
            </a:r>
            <a:r>
              <a:rPr dirty="0"/>
              <a:t> audits and </a:t>
            </a:r>
            <a:r>
              <a:rPr lang="en-US" dirty="0"/>
              <a:t>support</a:t>
            </a:r>
            <a:r>
              <a:rPr dirty="0"/>
              <a:t> services on top-contributing metro </a:t>
            </a:r>
            <a:r>
              <a:rPr lang="en-US" dirty="0"/>
              <a:t>cities</a:t>
            </a:r>
            <a:r>
              <a:rPr dirty="0"/>
              <a:t> and high-income brackets.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rPr dirty="0"/>
              <a:t>Thank You!</a:t>
            </a:r>
          </a:p>
          <a:p>
            <a:pPr>
              <a:spcBef>
                <a:spcPts val="1600"/>
              </a:spcBef>
              <a:defRPr sz="1300">
                <a:solidFill>
                  <a:srgbClr val="94A3B8"/>
                </a:solidFill>
              </a:defRPr>
            </a:pPr>
            <a:r>
              <a:rPr dirty="0"/>
              <a:t>Successfully delivered an end-to-end data analytics workflow:</a:t>
            </a:r>
            <a:br>
              <a:rPr dirty="0"/>
            </a:br>
            <a:r>
              <a:rPr dirty="0"/>
              <a:t>• MySQL Schema &amp; Analysis</a:t>
            </a:r>
            <a:br>
              <a:rPr dirty="0"/>
            </a:br>
            <a:r>
              <a:rPr dirty="0"/>
              <a:t>• Power BI Executive Dashboard</a:t>
            </a:r>
            <a:br>
              <a:rPr dirty="0"/>
            </a:br>
            <a:r>
              <a:rPr dirty="0"/>
              <a:t>• Strategic Business Insights</a:t>
            </a:r>
          </a:p>
          <a:p>
            <a:pPr algn="ctr">
              <a:spcBef>
                <a:spcPts val="2400"/>
              </a:spcBef>
              <a:defRPr sz="1400" b="1">
                <a:solidFill>
                  <a:srgbClr val="38BDF8"/>
                </a:solidFill>
              </a:defRPr>
            </a:pPr>
            <a:r>
              <a:rPr dirty="0"/>
              <a:t>Open for Questions </a:t>
            </a:r>
            <a:r>
              <a:rPr lang="en-US" dirty="0"/>
              <a:t>….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1000</Words>
  <Application>Microsoft Office PowerPoint</Application>
  <PresentationFormat>Widescreen</PresentationFormat>
  <Paragraphs>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Shirish Manchalwar</cp:lastModifiedBy>
  <cp:revision>8</cp:revision>
  <dcterms:created xsi:type="dcterms:W3CDTF">2013-01-27T09:14:16Z</dcterms:created>
  <dcterms:modified xsi:type="dcterms:W3CDTF">2026-10-16T13:31:19Z</dcterms:modified>
  <cp:category/>
</cp:coreProperties>
</file>